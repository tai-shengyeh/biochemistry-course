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3C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8532B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182880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8 週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097280" y="228600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碳水化合物</a:t>
            </a:r>
            <a:endParaRPr lang="en-US" sz="5200" dirty="0"/>
          </a:p>
        </p:txBody>
      </p:sp>
      <p:sp>
        <p:nvSpPr>
          <p:cNvPr id="5" name="Shape 3"/>
          <p:cNvSpPr/>
          <p:nvPr/>
        </p:nvSpPr>
        <p:spPr>
          <a:xfrm>
            <a:off x="1097280" y="3566160"/>
            <a:ext cx="2926080" cy="0"/>
          </a:xfrm>
          <a:prstGeom prst="line">
            <a:avLst/>
          </a:prstGeom>
          <a:noFill/>
          <a:ln w="31750">
            <a:solidFill>
              <a:srgbClr val="C853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37033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9F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Carbohydrate</a:t>
            </a:r>
            <a:endParaRPr lang="en-US" sz="1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換個主題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7772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Đổi chủ đề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00297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生物化學 第 8 週 · Hóa sinh — Tuần 8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31520" y="1737360"/>
            <a:ext cx="534924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D9E7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31520" y="1737360"/>
            <a:ext cx="73152" cy="2011680"/>
          </a:xfrm>
          <a:prstGeom prst="rect">
            <a:avLst/>
          </a:prstGeom>
          <a:solidFill>
            <a:srgbClr val="2E7D8A"/>
          </a:solidFill>
          <a:ln/>
        </p:spPr>
      </p:sp>
      <p:sp>
        <p:nvSpPr>
          <p:cNvPr id="9" name="Text 7"/>
          <p:cNvSpPr/>
          <p:nvPr/>
        </p:nvSpPr>
        <p:spPr>
          <a:xfrm>
            <a:off x="950976" y="1847088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7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前七週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950976" y="2304288"/>
            <a:ext cx="4937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蛋白質。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50976" y="3337560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tuần đầu: protein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26480" y="1737360"/>
            <a:ext cx="534924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D9E7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26480" y="1737360"/>
            <a:ext cx="73152" cy="2011680"/>
          </a:xfrm>
          <a:prstGeom prst="rect">
            <a:avLst/>
          </a:prstGeom>
          <a:solidFill>
            <a:srgbClr val="C8532B"/>
          </a:solidFill>
          <a:ln/>
        </p:spPr>
      </p:sp>
      <p:sp>
        <p:nvSpPr>
          <p:cNvPr id="14" name="Text 12"/>
          <p:cNvSpPr/>
          <p:nvPr/>
        </p:nvSpPr>
        <p:spPr>
          <a:xfrm>
            <a:off x="6345936" y="1847088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85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從這週開始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345936" y="2304288"/>
            <a:ext cx="4937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能量。先講碳水化合物。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345936" y="3337560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Từ nay: năng lượng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31520" y="4114800"/>
            <a:ext cx="10744200" cy="1463040"/>
          </a:xfrm>
          <a:prstGeom prst="rect">
            <a:avLst/>
          </a:prstGeom>
          <a:solidFill>
            <a:srgbClr val="163C49"/>
          </a:solidFill>
          <a:ln/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1097280" y="4315968"/>
            <a:ext cx="10012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看到「◯糖」或「◯醣」= 醣類。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1097280" y="5074920"/>
            <a:ext cx="10012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9F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Thấy 糖/醣 = carbohydrate.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中文陷阱:糖 vs 醣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7772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Bẫy: 糖 vs 醣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00297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生物化學 第 8 週 · Hóa sinh — Tuần 8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31520" y="1554480"/>
            <a:ext cx="10744200" cy="1188720"/>
          </a:xfrm>
          <a:prstGeom prst="rect">
            <a:avLst/>
          </a:prstGeom>
          <a:solidFill>
            <a:srgbClr val="FFE8E0"/>
          </a:solidFill>
          <a:ln w="19050">
            <a:solidFill>
              <a:srgbClr val="C853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7830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85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兩個都讀 táng,但不一樣。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731520" y="2926080"/>
            <a:ext cx="534924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D9E7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31520" y="2926080"/>
            <a:ext cx="73152" cy="2011680"/>
          </a:xfrm>
          <a:prstGeom prst="rect">
            <a:avLst/>
          </a:prstGeom>
          <a:solidFill>
            <a:srgbClr val="2E7D8A"/>
          </a:solidFill>
          <a:ln/>
        </p:spPr>
      </p:sp>
      <p:sp>
        <p:nvSpPr>
          <p:cNvPr id="11" name="Text 9"/>
          <p:cNvSpPr/>
          <p:nvPr/>
        </p:nvSpPr>
        <p:spPr>
          <a:xfrm>
            <a:off x="950976" y="3035808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7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糖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950976" y="3493008"/>
            <a:ext cx="4937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吃起來甜的。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葡萄糖、蔗糖。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50976" y="4526280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甜 = 糖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26480" y="2926080"/>
            <a:ext cx="534924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D9E7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2926080"/>
            <a:ext cx="73152" cy="2011680"/>
          </a:xfrm>
          <a:prstGeom prst="rect">
            <a:avLst/>
          </a:prstGeom>
          <a:solidFill>
            <a:srgbClr val="1F4E5F"/>
          </a:solidFill>
          <a:ln/>
        </p:spPr>
      </p:sp>
      <p:sp>
        <p:nvSpPr>
          <p:cNvPr id="16" name="Text 14"/>
          <p:cNvSpPr/>
          <p:nvPr/>
        </p:nvSpPr>
        <p:spPr>
          <a:xfrm>
            <a:off x="6345936" y="3035808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4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醣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345936" y="3493008"/>
            <a:ext cx="4937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所有碳水化合物。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包含不甜的澱粉。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345936" y="4526280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總稱 = 醣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31520" y="52120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85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澱粉是「醣」但不是「糖」(不甜)。越南語都是 carbohydrate,不用分。</a:t>
            </a:r>
            <a:endParaRPr lang="en-US"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先看詞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7772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Từ vựng · 不用背,看過就好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00297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生物化學 第 8 週 · Hóa sinh — Tuần 8</a:t>
            </a:r>
            <a:endParaRPr lang="en-US" sz="1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371600"/>
          <a:ext cx="1092708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2377440"/>
                <a:gridCol w="1828800"/>
                <a:gridCol w="1645920"/>
                <a:gridCol w="1828800"/>
                <a:gridCol w="169164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中文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Tiếng Việt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中文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Tiếng Việt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單醣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Đường đơn (mono-)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Monosaccharide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澱粉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Tinh bột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Starch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雙醣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Đường đôi (di-)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Disaccharide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肝醣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Glycogen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Glycogen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多醣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Đường đa (poly-)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Polysaccharide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纖維素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Cellulose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Cellulose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葡萄糖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Glucose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Glucose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異構物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Đồng phân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Isomer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醣苷鍵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Liên kết glycosidic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Glycosidic bond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還原糖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Đường khử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Reducing sugar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640080" y="58064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85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舊教材 glucid,新課綱 carbohydrate。蔗糖日常說 đường mía(砂糖)。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葡萄糖:開鏈與環狀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7772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Dạng mạch hở và mạch vòng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00297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生物化學 第 8 週 · Hóa sinh — Tuần 8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在水裡大多是環狀。成環時 C1 的 OH 可以朝上或朝下。</a:t>
            </a:r>
            <a:endParaRPr lang="en-US" sz="2400" dirty="0"/>
          </a:p>
        </p:txBody>
      </p:sp>
      <p:pic>
        <p:nvPicPr>
          <p:cNvPr id="8" name="Image 0" descr="/sessions/funny-hopeful-goldberg/mnt/biochemistry/assets/redrawn/w09_glucose_forms_cle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40864" y="1188720"/>
            <a:ext cx="7507224" cy="422452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31520" y="557784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朝上朝下 → α 和 β 兩種。看起來差一點點…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 和 β:差很多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7772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 và β: khác rất nhiều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00297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生物化學 第 8 週 · Hóa sinh — Tuần 8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31520" y="1737360"/>
            <a:ext cx="534924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D9E7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31520" y="1737360"/>
            <a:ext cx="73152" cy="2103120"/>
          </a:xfrm>
          <a:prstGeom prst="rect">
            <a:avLst/>
          </a:prstGeom>
          <a:solidFill>
            <a:srgbClr val="2E7D8A"/>
          </a:solidFill>
          <a:ln/>
        </p:spPr>
      </p:sp>
      <p:sp>
        <p:nvSpPr>
          <p:cNvPr id="9" name="Text 7"/>
          <p:cNvSpPr/>
          <p:nvPr/>
        </p:nvSpPr>
        <p:spPr>
          <a:xfrm>
            <a:off x="950976" y="1847088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7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α:OH 朝下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950976" y="2304288"/>
            <a:ext cx="4937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接起來 → 澱粉。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能吃。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50976" y="3429000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 → tinh bột (ăn được)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26480" y="1737360"/>
            <a:ext cx="534924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D9E7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26480" y="1737360"/>
            <a:ext cx="73152" cy="2103120"/>
          </a:xfrm>
          <a:prstGeom prst="rect">
            <a:avLst/>
          </a:prstGeom>
          <a:solidFill>
            <a:srgbClr val="C8532B"/>
          </a:solidFill>
          <a:ln/>
        </p:spPr>
      </p:sp>
      <p:sp>
        <p:nvSpPr>
          <p:cNvPr id="14" name="Text 12"/>
          <p:cNvSpPr/>
          <p:nvPr/>
        </p:nvSpPr>
        <p:spPr>
          <a:xfrm>
            <a:off x="6345936" y="1847088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85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β:OH 朝上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345936" y="2304288"/>
            <a:ext cx="4937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接起來 → 纖維素。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不能消化。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345936" y="3429000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 → cellulose (không tiêu hóa)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31520" y="4206240"/>
            <a:ext cx="10744200" cy="1463040"/>
          </a:xfrm>
          <a:prstGeom prst="rect">
            <a:avLst/>
          </a:prstGeom>
          <a:solidFill>
            <a:srgbClr val="163C49"/>
          </a:solidFill>
          <a:ln/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1097280" y="4407408"/>
            <a:ext cx="10012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你吃得下米飯(α),吃不下木頭(β)。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1097280" y="5166360"/>
            <a:ext cx="10012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9F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Ăn được cơm (α), không ăn được gỗ (β).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單醣 → 雙醣 → 多醣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7772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Đơn → đôi → đa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00297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生物化學 第 8 週 · Hóa sinh — Tuần 8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用醣苷鍵接起來,脫一個水。(跟第 3 週胜肽鍵一樣)</a:t>
            </a:r>
            <a:endParaRPr lang="en-US" sz="2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194560"/>
          <a:ext cx="1092708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4114800"/>
                <a:gridCol w="3611880"/>
              </a:tblGrid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雙醣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組成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例子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蔗糖 Sucrose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葡萄糖 + 果糖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你家的砂糖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乳糖 Lactose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葡萄糖 + 半乳糖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牛奶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麥芽糖 Maltose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葡萄糖 + 葡萄糖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麥芽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三種多醣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7772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loại polysaccharide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00297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生物化學 第 8 週 · Hóa sinh — Tuần 8</a:t>
            </a:r>
            <a:endParaRPr lang="en-US" sz="1000" dirty="0"/>
          </a:p>
        </p:txBody>
      </p:sp>
      <p:pic>
        <p:nvPicPr>
          <p:cNvPr id="7" name="Image 0" descr="/sessions/funny-hopeful-goldberg/mnt/biochemistry/assets/redrawn/w09_polysaccharides_cle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16352" y="1170432"/>
            <a:ext cx="6565392" cy="369417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31520" y="5029200"/>
            <a:ext cx="342900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D9E7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31520" y="5029200"/>
            <a:ext cx="73152" cy="1280160"/>
          </a:xfrm>
          <a:prstGeom prst="rect">
            <a:avLst/>
          </a:prstGeom>
          <a:solidFill>
            <a:srgbClr val="2E7D8A"/>
          </a:solidFill>
          <a:ln/>
        </p:spPr>
      </p:sp>
      <p:sp>
        <p:nvSpPr>
          <p:cNvPr id="10" name="Text 7"/>
          <p:cNvSpPr/>
          <p:nvPr/>
        </p:nvSpPr>
        <p:spPr>
          <a:xfrm>
            <a:off x="950976" y="5138928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7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澱粉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950976" y="559612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α,少分支。植物。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950976" y="5897880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Tinh bột — thực vật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389120" y="5029200"/>
            <a:ext cx="342900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D9E7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389120" y="5029200"/>
            <a:ext cx="73152" cy="1280160"/>
          </a:xfrm>
          <a:prstGeom prst="rect">
            <a:avLst/>
          </a:prstGeom>
          <a:solidFill>
            <a:srgbClr val="1F4E5F"/>
          </a:solidFill>
          <a:ln/>
        </p:spPr>
      </p:sp>
      <p:sp>
        <p:nvSpPr>
          <p:cNvPr id="15" name="Text 12"/>
          <p:cNvSpPr/>
          <p:nvPr/>
        </p:nvSpPr>
        <p:spPr>
          <a:xfrm>
            <a:off x="4608576" y="5138928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4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肝醣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4608576" y="559612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α,多分支。動物。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4608576" y="5897880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Glycogen — động vật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8046720" y="5029200"/>
            <a:ext cx="342900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D9E7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8046720" y="5029200"/>
            <a:ext cx="73152" cy="1280160"/>
          </a:xfrm>
          <a:prstGeom prst="rect">
            <a:avLst/>
          </a:prstGeom>
          <a:solidFill>
            <a:srgbClr val="C8532B"/>
          </a:solidFill>
          <a:ln/>
        </p:spPr>
      </p:sp>
      <p:sp>
        <p:nvSpPr>
          <p:cNvPr id="20" name="Text 17"/>
          <p:cNvSpPr/>
          <p:nvPr/>
        </p:nvSpPr>
        <p:spPr>
          <a:xfrm>
            <a:off x="8266176" y="5138928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85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纖維素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8266176" y="559612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β,直鏈。骨架。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8266176" y="5897880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Cellulose — khung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澱粉 vs 肝醣:別搞混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7772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Đừng nhầm tinh bột và glycogen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00297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生物化學 第 8 週 · Hóa sinh — Tuần 8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31520" y="1645920"/>
            <a:ext cx="10744200" cy="1371600"/>
          </a:xfrm>
          <a:prstGeom prst="rect">
            <a:avLst/>
          </a:prstGeom>
          <a:solidFill>
            <a:srgbClr val="163C49"/>
          </a:solidFill>
          <a:ln/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97280" y="1847088"/>
            <a:ext cx="1001268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都是葡萄糖用 α1→4 接。差別在分支多少。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1097280" y="2514600"/>
            <a:ext cx="10012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9F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Đều là glucose nối α1→4. Khác ở số nhánh.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731520" y="3291840"/>
            <a:ext cx="534924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7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31520" y="3291840"/>
            <a:ext cx="73152" cy="1828800"/>
          </a:xfrm>
          <a:prstGeom prst="rect">
            <a:avLst/>
          </a:prstGeom>
          <a:solidFill>
            <a:srgbClr val="C8532B"/>
          </a:solidFill>
          <a:ln/>
        </p:spPr>
      </p:sp>
      <p:sp>
        <p:nvSpPr>
          <p:cNvPr id="12" name="Text 10"/>
          <p:cNvSpPr/>
          <p:nvPr/>
        </p:nvSpPr>
        <p:spPr>
          <a:xfrm>
            <a:off x="950976" y="3401568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85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肝醣分支多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950976" y="3858768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動物要「快速」放糖。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分支多 = 出口多。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50976" y="4709160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Nhiều nhánh = nhả nhanh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26480" y="3291840"/>
            <a:ext cx="534924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7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26480" y="3291840"/>
            <a:ext cx="73152" cy="1828800"/>
          </a:xfrm>
          <a:prstGeom prst="rect">
            <a:avLst/>
          </a:prstGeom>
          <a:solidFill>
            <a:srgbClr val="2E7D8A"/>
          </a:solidFill>
          <a:ln/>
        </p:spPr>
      </p:sp>
      <p:sp>
        <p:nvSpPr>
          <p:cNvPr id="17" name="Text 15"/>
          <p:cNvSpPr/>
          <p:nvPr/>
        </p:nvSpPr>
        <p:spPr>
          <a:xfrm>
            <a:off x="6345936" y="3401568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7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記法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345936" y="3858768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植物澱粉,動物肝醣。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「肝」= gan。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345936" y="4709160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肝醣 = ở gan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31520" y="539496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85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肝醣就是存在肝臟的。第 13 週會講怎麼把它拆開放糖。</a:t>
            </a:r>
            <a:endParaRPr lang="en-US" sz="1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你的食物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7772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Thức ăn của bạn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00297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生物化學 第 8 週 · Hóa sinh — Tuần 8</a:t>
            </a:r>
            <a:endParaRPr lang="en-US" sz="1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45920"/>
          <a:ext cx="1092708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3291840"/>
                <a:gridCol w="4526280"/>
              </a:tblGrid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食物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是什麼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結果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phở, bánh mì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澱粉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消化成葡萄糖 → 能量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牛奶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乳糖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缺乳糖酶 → 肚子痛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蔬菜纖維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纖維素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消化不了,但幫助腸道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640080" y="512064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85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13 週的糖解,就是燒葡萄糖產能。</a:t>
            </a:r>
            <a:endParaRPr lang="en-US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練習:分類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7772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Bài tập: Phân loại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00297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生物化學 第 8 週 · Hóa sinh — Tuần 8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77240" y="137160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85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是單醣、雙醣、還是多醣? Đường đơn, đôi hay đa?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777240" y="2103120"/>
            <a:ext cx="2514600" cy="1097280"/>
          </a:xfrm>
          <a:prstGeom prst="rect">
            <a:avLst/>
          </a:prstGeom>
          <a:solidFill>
            <a:srgbClr val="1F4E5F"/>
          </a:solidFill>
          <a:ln/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77240" y="2103120"/>
            <a:ext cx="2514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蔗糖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777240" y="3657600"/>
            <a:ext cx="2514600" cy="914400"/>
          </a:xfrm>
          <a:prstGeom prst="rect">
            <a:avLst/>
          </a:prstGeom>
          <a:solidFill>
            <a:srgbClr val="FFFFFF"/>
          </a:solidFill>
          <a:ln w="15240">
            <a:solidFill>
              <a:srgbClr val="2E7D8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77240" y="365760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3520440" y="2103120"/>
            <a:ext cx="2514600" cy="1097280"/>
          </a:xfrm>
          <a:prstGeom prst="rect">
            <a:avLst/>
          </a:prstGeom>
          <a:solidFill>
            <a:srgbClr val="1F4E5F"/>
          </a:solidFill>
          <a:ln/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520440" y="2103120"/>
            <a:ext cx="2514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葡萄糖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3520440" y="3657600"/>
            <a:ext cx="2514600" cy="914400"/>
          </a:xfrm>
          <a:prstGeom prst="rect">
            <a:avLst/>
          </a:prstGeom>
          <a:solidFill>
            <a:srgbClr val="FFFFFF"/>
          </a:solidFill>
          <a:ln w="15240">
            <a:solidFill>
              <a:srgbClr val="2E7D8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520440" y="365760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263640" y="2103120"/>
            <a:ext cx="2514600" cy="1097280"/>
          </a:xfrm>
          <a:prstGeom prst="rect">
            <a:avLst/>
          </a:prstGeom>
          <a:solidFill>
            <a:srgbClr val="1F4E5F"/>
          </a:solidFill>
          <a:ln/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263640" y="2103120"/>
            <a:ext cx="2514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澱粉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6263640" y="3657600"/>
            <a:ext cx="2514600" cy="914400"/>
          </a:xfrm>
          <a:prstGeom prst="rect">
            <a:avLst/>
          </a:prstGeom>
          <a:solidFill>
            <a:srgbClr val="FFFFFF"/>
          </a:solidFill>
          <a:ln w="15240">
            <a:solidFill>
              <a:srgbClr val="2E7D8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263640" y="365760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9006840" y="2103120"/>
            <a:ext cx="2514600" cy="1097280"/>
          </a:xfrm>
          <a:prstGeom prst="rect">
            <a:avLst/>
          </a:prstGeom>
          <a:solidFill>
            <a:srgbClr val="1F4E5F"/>
          </a:solidFill>
          <a:ln/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006840" y="2103120"/>
            <a:ext cx="2514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麥芽糖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9006840" y="3657600"/>
            <a:ext cx="2514600" cy="914400"/>
          </a:xfrm>
          <a:prstGeom prst="rect">
            <a:avLst/>
          </a:prstGeom>
          <a:solidFill>
            <a:srgbClr val="FFFFFF"/>
          </a:solidFill>
          <a:ln w="15240">
            <a:solidFill>
              <a:srgbClr val="2E7D8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9006840" y="365760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</a:t>
            </a:r>
            <a:endParaRPr lang="en-US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練習:對或錯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7772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Bài tập: Đúng hay sai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00297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生物化學 第 8 週 · Hóa sinh — Tuần 8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77240" y="1600200"/>
            <a:ext cx="1060704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9E7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77240" y="1600200"/>
            <a:ext cx="1371600" cy="960120"/>
          </a:xfrm>
          <a:prstGeom prst="rect">
            <a:avLst/>
          </a:prstGeom>
          <a:solidFill>
            <a:srgbClr val="2E7D8A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1600200"/>
            <a:ext cx="1371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/ X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377440" y="1600200"/>
            <a:ext cx="8869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澱粉和肝醣都是葡萄糖組成的。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777240" y="2743200"/>
            <a:ext cx="1060704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9E7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77240" y="2743200"/>
            <a:ext cx="1371600" cy="960120"/>
          </a:xfrm>
          <a:prstGeom prst="rect">
            <a:avLst/>
          </a:prstGeom>
          <a:solidFill>
            <a:srgbClr val="2E7D8A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2743200"/>
            <a:ext cx="1371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/ X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377440" y="2743200"/>
            <a:ext cx="8869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 和 β 葡萄糖是不同的分子式。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777240" y="3886200"/>
            <a:ext cx="1060704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9E7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77240" y="3886200"/>
            <a:ext cx="1371600" cy="960120"/>
          </a:xfrm>
          <a:prstGeom prst="rect">
            <a:avLst/>
          </a:prstGeom>
          <a:solidFill>
            <a:srgbClr val="2E7D8A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3886200"/>
            <a:ext cx="1371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/ X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2377440" y="3886200"/>
            <a:ext cx="8869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人可以消化纖維素。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777240" y="5029200"/>
            <a:ext cx="1060704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9E7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77240" y="5029200"/>
            <a:ext cx="1371600" cy="960120"/>
          </a:xfrm>
          <a:prstGeom prst="rect">
            <a:avLst/>
          </a:prstGeom>
          <a:solidFill>
            <a:srgbClr val="2E7D8A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5029200"/>
            <a:ext cx="1371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/ X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2377440" y="5029200"/>
            <a:ext cx="8869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肝醣的分支比澱粉多。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777240" y="617220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5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想一想:為什麼動物用肝醣,不用澱粉?(動物需要快)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63C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8532B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1371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下週 · Tuần sau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097280" y="182880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期中考(第 9 週)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1097280" y="26517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F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 giữa kỳ (Tuần 9)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097280" y="3383280"/>
            <a:ext cx="2926080" cy="0"/>
          </a:xfrm>
          <a:prstGeom prst="line">
            <a:avLst/>
          </a:prstGeom>
          <a:noFill/>
          <a:ln w="31750">
            <a:solidFill>
              <a:srgbClr val="C853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3657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85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554480" y="3630168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範圍:第 1–8 週(含今天的碳水化合物)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554480" y="4005072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Phạm vi: tuần 1–8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97280" y="4480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85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554480" y="4453128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題型:標圖 40%、配對 20%、選擇 20%、計算 20%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1554480" y="4828032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Dạng đề: ghi nhãn, nối, chọn, tính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97280" y="5303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85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554480" y="5276088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考完第 10 週接脂質與生物膜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1554480" y="5650992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Tuần 10: lipid và màng sinh học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2026-07-16T17:02:31Z</dcterms:created>
  <dcterms:modified xsi:type="dcterms:W3CDTF">2026-07-16T17:02:31Z</dcterms:modified>
</cp:coreProperties>
</file>