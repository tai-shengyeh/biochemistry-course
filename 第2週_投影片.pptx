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288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週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水、pH 與緩衝溶液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1097280" y="3474720"/>
            <a:ext cx="2926080" cy="0"/>
          </a:xfrm>
          <a:prstGeom prst="line">
            <a:avLst/>
          </a:prstGeom>
          <a:noFill/>
          <a:ln w="31750">
            <a:solidFill>
              <a:srgbClr val="C853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703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Nước, pH và dung dịch đệm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好消息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 tốt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2 週 · Hóa sinh — Tuần 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10744200" cy="160020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17830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你高中化學學過 pH。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097280" y="24688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Bạn đã học pH ở Hóa học phổ thông rồi.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今天不學新概念。今天做兩件事: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731520" y="4114800"/>
            <a:ext cx="534924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4114800"/>
            <a:ext cx="73152" cy="173736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3" name="Text 11"/>
          <p:cNvSpPr/>
          <p:nvPr/>
        </p:nvSpPr>
        <p:spPr>
          <a:xfrm>
            <a:off x="950976" y="422452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學中文說法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50976" y="468172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pH、酸、鹼、緩衝。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50976" y="54406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cách nói bằng tiếng Trung.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4114800"/>
            <a:ext cx="534924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4114800"/>
            <a:ext cx="73152" cy="173736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18" name="Text 16"/>
          <p:cNvSpPr/>
          <p:nvPr/>
        </p:nvSpPr>
        <p:spPr>
          <a:xfrm>
            <a:off x="6345936" y="422452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看生化怎麼用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45936" y="468172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為什麼血液 pH 不會亂跑。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45936" y="54406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Hóa sinh dùng nó thế nào.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先看詞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vựng · 不用背,看過就好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2 週 · Hóa sinh — Tuần 2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9270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103120"/>
                <a:gridCol w="1828800"/>
                <a:gridCol w="1737360"/>
                <a:gridCol w="1965960"/>
                <a:gridCol w="17373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中文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Tiếng Việt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中文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Tiếng Việt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水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Nước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酸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Acid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Acid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極性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Phân cực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鹼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非極性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phân cực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Nonpolar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解離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Sự phân li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Dissociation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氫鍵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Liên kết hydrogen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Hydrogen bond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濃度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Nồng độ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Concentration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親水性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Ưa nước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Hydrophilic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緩衝溶液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Dung dịch đệm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Buffer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疏水性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Kỵ nước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Hydrophobic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滴定曲線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Đường cong chuẩn độ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Titration curve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舊書寫 axit、bazơ —— 那是 2018 以前的寫法,意思一樣。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先講一個陷阱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cái bẫy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2 週 · Hóa sinh — Tuần 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10744200" cy="1188720"/>
          </a:xfrm>
          <a:prstGeom prst="rect">
            <a:avLst/>
          </a:prstGeom>
          <a:solidFill>
            <a:srgbClr val="FFF4E0"/>
          </a:solidFill>
          <a:ln w="19050">
            <a:solidFill>
              <a:srgbClr val="C853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373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越南語的 base 有兩個意思。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097280" y="22677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trong tiếng Việt có 2 nghĩa.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31520" y="3063240"/>
            <a:ext cx="53492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3063240"/>
            <a:ext cx="73152" cy="237744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2" name="Text 10"/>
          <p:cNvSpPr/>
          <p:nvPr/>
        </p:nvSpPr>
        <p:spPr>
          <a:xfrm>
            <a:off x="950976" y="317296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這週:鹼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50976" y="3630168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酸鹼的鹼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接受 H⁺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50976" y="502920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này = base (acid-base)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3063240"/>
            <a:ext cx="53492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3063240"/>
            <a:ext cx="73152" cy="237744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17" name="Text 15"/>
          <p:cNvSpPr/>
          <p:nvPr/>
        </p:nvSpPr>
        <p:spPr>
          <a:xfrm>
            <a:off x="6345936" y="317296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11 週:鹼基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45936" y="3630168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nitrogen 含氮鹼基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A、T、G、C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45936" y="502920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11 = base nitrogen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56692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中文用兩個不同的詞 —— 這次中文比較好用。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水是極性的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Nước phân cực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2 週 · Hóa sinh — Tuần 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氧那邊帶負電。氫那邊帶正電。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49808" y="20116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Phía oxygen âm. Phía hydrogen dương.</a:t>
            </a:r>
            <a:endParaRPr lang="en-US" sz="1700" dirty="0"/>
          </a:p>
        </p:txBody>
      </p:sp>
      <p:pic>
        <p:nvPicPr>
          <p:cNvPr id="9" name="Image 0" descr="/sessions/funny-hopeful-goldberg/mnt/biochemistry/assets/redrawn/w02_water_hbond_label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0864" y="1188720"/>
            <a:ext cx="7507224" cy="42245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氫鍵:弱,但很多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Liên kết hydrogen: yếu nhưng nhiều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2 週 · Hóa sinh — Tuần 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34290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554480"/>
            <a:ext cx="73152" cy="192024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9" name="Text 7"/>
          <p:cNvSpPr/>
          <p:nvPr/>
        </p:nvSpPr>
        <p:spPr>
          <a:xfrm>
            <a:off x="950976" y="16642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一個氫鍵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50976" y="2121408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共價鍵的 1/20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很弱。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50976" y="30632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Rất yếu.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89120" y="1554480"/>
            <a:ext cx="34290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9120" y="1554480"/>
            <a:ext cx="73152" cy="192024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4" name="Text 12"/>
          <p:cNvSpPr/>
          <p:nvPr/>
        </p:nvSpPr>
        <p:spPr>
          <a:xfrm>
            <a:off x="4608576" y="16642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一杯水裡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08576" y="2121408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有幾兆個。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08576" y="30632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hàng nghìn tỷ.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46720" y="1554480"/>
            <a:ext cx="34290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0" y="1554480"/>
            <a:ext cx="73152" cy="192024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19" name="Text 17"/>
          <p:cNvSpPr/>
          <p:nvPr/>
        </p:nvSpPr>
        <p:spPr>
          <a:xfrm>
            <a:off x="8266176" y="16642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加起來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66176" y="2121408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很強。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66176" y="30632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Cộng lại → rất mạnh.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" y="3931920"/>
            <a:ext cx="10744200" cy="173736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97280" y="4206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一個很弱,很多個就決定一切。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1097280" y="48463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這句話整學期會一直出現。 Câu này sẽ lặp lại cả học kỳ.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水能溶解什麼?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Nước hòa tan được gì?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2 週 · Hóa sinh — Tuần 2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270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834640"/>
                <a:gridCol w="2971800"/>
                <a:gridCol w="2743200"/>
              </a:tblGrid>
              <a:tr h="1188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特徵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例子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結果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2E7D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親水性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2E7D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Ưa nước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有電荷或極性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鹽、糖、胺基酸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水抓得住 → 溶解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C85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疏水性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C85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Kỵ nước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沒電荷、非極性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油、脂質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水抓不住 → 分開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49377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下週的蛋白質摺疊、第 10 週的細胞膜,都靠這個。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油為什麼不溶於水?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dầu không tan trong nước?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2 週 · Hóa sinh — Tuần 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10744200" cy="1280160"/>
          </a:xfrm>
          <a:prstGeom prst="rect">
            <a:avLst/>
          </a:prstGeom>
          <a:solidFill>
            <a:srgbClr val="FFE8E0"/>
          </a:solidFill>
          <a:ln w="19050">
            <a:solidFill>
              <a:srgbClr val="C853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920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錯:因為油「討厭」水。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731520" y="3200400"/>
            <a:ext cx="10744200" cy="182880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3520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對:因為水分子彼此抓得太緊,把油擠出去。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097280" y="4160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Nước bám nhau quá chặt → đẩy dầu ra ngoài.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4572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這叫疏水效應 Hiệu ứng kỵ nước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水會解離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2 週 · Hóa sinh — Tuần 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H₂O  ⇌  H⁺  +  OH⁻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3291840" y="2468880"/>
            <a:ext cx="5577840" cy="118872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246888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= −log [H⁺]</a:t>
            </a:r>
            <a:endParaRPr lang="en-US" sz="4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88720" y="4023360"/>
          <a:ext cx="9784080" cy="914400"/>
        </p:xfrm>
        <a:graphic>
          <a:graphicData uri="http://schemas.openxmlformats.org/drawingml/2006/table">
            <a:tbl>
              <a:tblPr/>
              <a:tblGrid>
                <a:gridCol w="3264408"/>
                <a:gridCol w="3264408"/>
                <a:gridCol w="3255264"/>
              </a:tblGrid>
              <a:tr h="1188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酸性 Acid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53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中性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鹼性 Base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 &lt; 7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[H⁺] 多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胃酸 ≈ 1.5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 = 7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[H⁺] = [OH⁻]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純水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 &gt; 7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[OH⁻] 多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小腸 ≈ 8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差 1 = 10 倍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Lệch 1 → 10 lần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2 週 · Hóa sinh — Tuần 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22960" y="2103120"/>
            <a:ext cx="1965960" cy="2194560"/>
          </a:xfrm>
          <a:prstGeom prst="roundRect">
            <a:avLst>
              <a:gd name="adj" fmla="val 4651"/>
            </a:avLst>
          </a:prstGeom>
          <a:solidFill>
            <a:srgbClr val="C8532B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3774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胃酸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35204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Dịch vị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063240" y="2103120"/>
            <a:ext cx="1965960" cy="2194560"/>
          </a:xfrm>
          <a:prstGeom prst="roundRect">
            <a:avLst>
              <a:gd name="adj" fmla="val 4651"/>
            </a:avLst>
          </a:prstGeom>
          <a:solidFill>
            <a:srgbClr val="C8532B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063240" y="23774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4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063240" y="30175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番茄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063240" y="35204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 chua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303520" y="2103120"/>
            <a:ext cx="1965960" cy="2194560"/>
          </a:xfrm>
          <a:prstGeom prst="roundRect">
            <a:avLst>
              <a:gd name="adj" fmla="val 4651"/>
            </a:avLst>
          </a:prstGeom>
          <a:solidFill>
            <a:srgbClr val="2E7D8A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03520" y="23774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7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303520" y="30175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純水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303520" y="35204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Nước tinh khiết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543800" y="2103120"/>
            <a:ext cx="1965960" cy="2194560"/>
          </a:xfrm>
          <a:prstGeom prst="roundRect">
            <a:avLst>
              <a:gd name="adj" fmla="val 4651"/>
            </a:avLst>
          </a:prstGeom>
          <a:solidFill>
            <a:srgbClr val="1F4E5F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543800" y="23774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7.4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543800" y="30175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血液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543800" y="35204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Máu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784080" y="2103120"/>
            <a:ext cx="1965960" cy="2194560"/>
          </a:xfrm>
          <a:prstGeom prst="roundRect">
            <a:avLst>
              <a:gd name="adj" fmla="val 4651"/>
            </a:avLst>
          </a:prstGeom>
          <a:solidFill>
            <a:srgbClr val="1F4E5F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784080" y="23774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8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784080" y="30175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小腸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784080" y="35204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Ruột non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" y="4846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5 的 [H⁺] 是 pH 6 的 10 倍。 pH 5 的 [H⁺] 是 pH 7 的 100 倍。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弱酸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yếu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2 週 · Hóa sinh — Tuần 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554480"/>
            <a:ext cx="73152" cy="182880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9" name="Text 7"/>
          <p:cNvSpPr/>
          <p:nvPr/>
        </p:nvSpPr>
        <p:spPr>
          <a:xfrm>
            <a:off x="950976" y="166420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強酸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50976" y="2121408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全部解離。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50976" y="297180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li hoàn toàn.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55448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554480"/>
            <a:ext cx="73152" cy="182880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14" name="Text 12"/>
          <p:cNvSpPr/>
          <p:nvPr/>
        </p:nvSpPr>
        <p:spPr>
          <a:xfrm>
            <a:off x="6345936" y="166420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弱酸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45936" y="2121408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只解離一部分。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45936" y="297180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phân li một phần.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36576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 ⇌  H⁺  +  A⁻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731520" y="448056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生化裡幾乎都是弱酸。 Trong Hóa sinh hầu hết là acid yếu.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31520" y="49834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pKa 越小 = 酸越強。 pKa càng nhỏ = acid càng mạnh.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滴定曲線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Đường cong chuẩn độ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2 週 · Hóa sinh — Tuần 2</a:t>
            </a:r>
            <a:endParaRPr lang="en-US" sz="1000" dirty="0"/>
          </a:p>
        </p:txBody>
      </p:sp>
      <p:pic>
        <p:nvPicPr>
          <p:cNvPr id="7" name="Image 0" descr="/sessions/funny-hopeful-goldberg/mnt/biochemistry/assets/redrawn/w02_titration_label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56432" y="1207008"/>
            <a:ext cx="5276088" cy="29718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4343400"/>
            <a:ext cx="10744200" cy="137160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097280" y="4526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[HA] = [A⁻] 時, pH = pKa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1097280" y="5120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在圖上就是曲線最平的那一點。 Trên hình = điểm phẳng nhất.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緩衝溶液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Dung dịch đệm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2 週 · Hóa sinh — Tuần 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緩衝溶液 = 弱酸 + 它的共軛鹼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49808" y="20116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Dung dịch đệm = acid yếu + base liên hợp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651760"/>
            <a:ext cx="53492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651760"/>
            <a:ext cx="73152" cy="201168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11" name="Text 9"/>
          <p:cNvSpPr/>
          <p:nvPr/>
        </p:nvSpPr>
        <p:spPr>
          <a:xfrm>
            <a:off x="950976" y="276148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加酸進去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50976" y="3218688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A⁻ 把 H⁺ 吃掉。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50976" y="42519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acid → A⁻ hấp thụ H⁺.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2651760"/>
            <a:ext cx="53492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2651760"/>
            <a:ext cx="73152" cy="201168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6" name="Text 14"/>
          <p:cNvSpPr/>
          <p:nvPr/>
        </p:nvSpPr>
        <p:spPr>
          <a:xfrm>
            <a:off x="6345936" y="276148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加鹼進去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45936" y="3218688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放出 H⁺ 補上。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45936" y="42519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base → HA nhả H⁺.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4937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兩邊都有人擋 → pH 幾乎不動。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31520" y="54406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緩衝範圍 = pKa ± 1。最強在 pH = pKa。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為什麼要學這個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phải học cái này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2 週 · Hóa sinh — Tuần 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10744200" cy="164592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182880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你的血液 pH 必須是 7.35 – 7.45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097280" y="25146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Máu của bạn phải giữ pH 7.35 – 7.45. Khoảng này rất hẹp.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3520440"/>
            <a:ext cx="34290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3520440"/>
            <a:ext cx="73152" cy="201168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12" name="Text 10"/>
          <p:cNvSpPr/>
          <p:nvPr/>
        </p:nvSpPr>
        <p:spPr>
          <a:xfrm>
            <a:off x="950976" y="363016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7.35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50976" y="4087368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酸中毒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Nhiễm toan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89120" y="3520440"/>
            <a:ext cx="34290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89120" y="3520440"/>
            <a:ext cx="73152" cy="201168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6" name="Text 14"/>
          <p:cNvSpPr/>
          <p:nvPr/>
        </p:nvSpPr>
        <p:spPr>
          <a:xfrm>
            <a:off x="4608576" y="363016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7.35–7.45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608576" y="4087368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正常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Bình thường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46720" y="3520440"/>
            <a:ext cx="34290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6720" y="3520440"/>
            <a:ext cx="73152" cy="201168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20" name="Text 18"/>
          <p:cNvSpPr/>
          <p:nvPr/>
        </p:nvSpPr>
        <p:spPr>
          <a:xfrm>
            <a:off x="8266176" y="363016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7.45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266176" y="4087368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鹼中毒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Nhiễm kiềm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 0.4 就可能致命。 Lệch 0.4 có thể tử vong.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臨床例子:糖尿病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 lâm sàng: đái tháo đường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2 週 · Hóa sinh — Tuần 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2011680"/>
            <a:ext cx="2377440" cy="1737360"/>
          </a:xfrm>
          <a:prstGeom prst="roundRect">
            <a:avLst>
              <a:gd name="adj" fmla="val 5263"/>
            </a:avLst>
          </a:prstGeom>
          <a:solidFill>
            <a:srgbClr val="2E7D8A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2402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不能用葡萄糖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dùng được glucose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0" y="260604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3566160" y="2011680"/>
            <a:ext cx="2377440" cy="1737360"/>
          </a:xfrm>
          <a:prstGeom prst="roundRect">
            <a:avLst>
              <a:gd name="adj" fmla="val 5263"/>
            </a:avLst>
          </a:prstGeom>
          <a:solidFill>
            <a:srgbClr val="2E7D8A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0" y="22402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燒脂肪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5760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Đốt mỡ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89320" y="260604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6355080" y="2011680"/>
            <a:ext cx="2377440" cy="1737360"/>
          </a:xfrm>
          <a:prstGeom prst="roundRect">
            <a:avLst>
              <a:gd name="adj" fmla="val 5263"/>
            </a:avLst>
          </a:prstGeom>
          <a:solidFill>
            <a:srgbClr val="2E7D8A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46520" y="22402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產生酮體(酸)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4652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thể ceton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778240" y="260604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9144000" y="2011680"/>
            <a:ext cx="2377440" cy="1737360"/>
          </a:xfrm>
          <a:prstGeom prst="roundRect">
            <a:avLst>
              <a:gd name="adj" fmla="val 5263"/>
            </a:avLst>
          </a:prstGeom>
          <a:solidFill>
            <a:srgbClr val="C8532B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235440" y="22402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血液 pH 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23544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máu giảm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41148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酮酸中毒 Nhiễm toan ceton —— 會致命。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77240" y="47091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身體靠碳酸氫鹽緩衝系統(HCO₃⁻ / H₂CO₃)撐住。第 16 週會講酮體怎麼來的。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練習:對或錯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tập: Đúng hay sai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2 週 · Hóa sinh — Tuần 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160020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600200"/>
            <a:ext cx="1371600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600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 X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377440" y="16002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5 的 [H⁺] 是 pH 6 的 10 倍。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777240" y="274320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743200"/>
            <a:ext cx="1371600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743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 X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377440" y="27432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氫鍵比共價鍵強。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777240" y="388620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886200"/>
            <a:ext cx="1371600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886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 X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377440" y="38862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油不溶於水,因為水分子彼此抓得太緊。</a:t>
            </a:r>
            <a:endParaRPr lang="en-US" sz="2300" dirty="0"/>
          </a:p>
        </p:txBody>
      </p:sp>
      <p:sp>
        <p:nvSpPr>
          <p:cNvPr id="19" name="Shape 17"/>
          <p:cNvSpPr/>
          <p:nvPr/>
        </p:nvSpPr>
        <p:spPr>
          <a:xfrm>
            <a:off x="777240" y="502920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5029200"/>
            <a:ext cx="1371600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029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 X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377440" y="50292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緩衝液在 pH = pKa 時效果最好。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777240" y="6172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想一想:pKa 4.8 / 6.4 / 9.2,要做 pH 7 的緩衝液選哪個?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下週 · Tuần sau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18288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胺基酸與胜肽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97280" y="2651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Amino acid và peptide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97280" y="3383280"/>
            <a:ext cx="2926080" cy="0"/>
          </a:xfrm>
          <a:prstGeom prst="line">
            <a:avLst/>
          </a:prstGeom>
          <a:noFill/>
          <a:ln w="31750">
            <a:solidFill>
              <a:srgbClr val="C853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36301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課前:看詞彙表第 3 週(17 個詞)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554480" y="40050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trước 17 từ của tuần 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44531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小測:下週前 10 分鐘,考今天的詞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554480" y="482803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5 câu, 10 phút đầu giờ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5303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527608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提示:胺基酸有兩個地方可以解離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554480" y="565099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Gợi ý: amino acid có 2 chỗ phân li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2026-07-16T17:02:28Z</dcterms:created>
  <dcterms:modified xsi:type="dcterms:W3CDTF">2026-07-16T17:02:28Z</dcterms:modified>
</cp:coreProperties>
</file>